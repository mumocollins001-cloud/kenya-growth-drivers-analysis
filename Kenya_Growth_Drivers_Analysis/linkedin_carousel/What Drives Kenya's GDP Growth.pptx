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>
        <p:scale>
          <a:sx n="70" d="100"/>
          <a:sy n="70" d="100"/>
        </p:scale>
        <p:origin x="1338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2EC9-2652-421F-8509-9E269C80D470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723A4-F2D2-4DF5-A487-59265F2F3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166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2EC9-2652-421F-8509-9E269C80D470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723A4-F2D2-4DF5-A487-59265F2F3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86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2EC9-2652-421F-8509-9E269C80D470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723A4-F2D2-4DF5-A487-59265F2F3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304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2EC9-2652-421F-8509-9E269C80D470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723A4-F2D2-4DF5-A487-59265F2F3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956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2EC9-2652-421F-8509-9E269C80D470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723A4-F2D2-4DF5-A487-59265F2F3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47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2EC9-2652-421F-8509-9E269C80D470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723A4-F2D2-4DF5-A487-59265F2F3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256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2EC9-2652-421F-8509-9E269C80D470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723A4-F2D2-4DF5-A487-59265F2F3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330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2EC9-2652-421F-8509-9E269C80D470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723A4-F2D2-4DF5-A487-59265F2F3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207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2EC9-2652-421F-8509-9E269C80D470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723A4-F2D2-4DF5-A487-59265F2F3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922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2EC9-2652-421F-8509-9E269C80D470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723A4-F2D2-4DF5-A487-59265F2F3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523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2EC9-2652-421F-8509-9E269C80D470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723A4-F2D2-4DF5-A487-59265F2F3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83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272EC9-2652-421F-8509-9E269C80D470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5723A4-F2D2-4DF5-A487-59265F2F3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943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54843"/>
            <a:ext cx="9144000" cy="1282888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accent4">
                    <a:lumMod val="75000"/>
                  </a:schemeClr>
                </a:solidFill>
              </a:rPr>
              <a:t>What Drives Kenya's GDP Growth?</a:t>
            </a:r>
            <a:endParaRPr lang="en-US" sz="40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115404"/>
            <a:ext cx="9144000" cy="3889612"/>
          </a:xfrm>
        </p:spPr>
        <p:txBody>
          <a:bodyPr>
            <a:noAutofit/>
          </a:bodyPr>
          <a:lstStyle/>
          <a:p>
            <a:r>
              <a:rPr lang="en-US" dirty="0" smtClean="0"/>
              <a:t>A Data Analysis and Regression Study</a:t>
            </a:r>
            <a:br>
              <a:rPr lang="en-US" dirty="0" smtClean="0"/>
            </a:br>
            <a:r>
              <a:rPr lang="en-US" dirty="0" smtClean="0"/>
              <a:t>Using World Bank Data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Analyzing the relationship between: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• Investment</a:t>
            </a:r>
            <a:br>
              <a:rPr lang="en-US" dirty="0" smtClean="0"/>
            </a:br>
            <a:r>
              <a:rPr lang="en-US" dirty="0" smtClean="0"/>
              <a:t>• Inflation</a:t>
            </a:r>
            <a:br>
              <a:rPr lang="en-US" dirty="0" smtClean="0"/>
            </a:br>
            <a:r>
              <a:rPr lang="en-US" dirty="0" smtClean="0"/>
              <a:t>• Government Expenditure</a:t>
            </a:r>
            <a:br>
              <a:rPr lang="en-US" dirty="0" smtClean="0"/>
            </a:br>
            <a:r>
              <a:rPr lang="en-US" dirty="0" smtClean="0"/>
              <a:t>• Unemployment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Collins </a:t>
            </a:r>
            <a:r>
              <a:rPr lang="en-US" dirty="0" err="1" smtClean="0"/>
              <a:t>Mumo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268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55093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chemeClr val="accent4">
                    <a:lumMod val="75000"/>
                  </a:schemeClr>
                </a:solidFill>
              </a:rPr>
              <a:t>The Question</a:t>
            </a:r>
            <a:endParaRPr lang="en-US" sz="2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55093"/>
            <a:ext cx="10515600" cy="4749420"/>
          </a:xfrm>
        </p:spPr>
        <p:txBody>
          <a:bodyPr>
            <a:noAutofit/>
          </a:bodyPr>
          <a:lstStyle/>
          <a:p>
            <a:r>
              <a:rPr lang="en-US" sz="1600" b="1" dirty="0" smtClean="0"/>
              <a:t>Can key economic indicators help explain Kenya's GDP Growth?</a:t>
            </a:r>
          </a:p>
          <a:p>
            <a:endParaRPr lang="en-US" sz="1600" dirty="0" smtClean="0"/>
          </a:p>
          <a:p>
            <a:pPr marL="0" indent="0">
              <a:buNone/>
            </a:pPr>
            <a:r>
              <a:rPr lang="en-US" sz="1600" u="sng" dirty="0" smtClean="0"/>
              <a:t>Variables analyzed</a:t>
            </a:r>
            <a:r>
              <a:rPr lang="en-US" sz="1600" dirty="0" smtClean="0"/>
              <a:t>:</a:t>
            </a:r>
          </a:p>
          <a:p>
            <a:r>
              <a:rPr lang="en-US" sz="1600" dirty="0" smtClean="0"/>
              <a:t>• Investment (% of GDP)</a:t>
            </a:r>
          </a:p>
          <a:p>
            <a:r>
              <a:rPr lang="en-US" sz="1600" dirty="0" smtClean="0"/>
              <a:t>• Inflation (%)</a:t>
            </a:r>
          </a:p>
          <a:p>
            <a:r>
              <a:rPr lang="en-US" sz="1600" dirty="0" smtClean="0"/>
              <a:t>• Government Expenditure (% of GDP)</a:t>
            </a:r>
          </a:p>
          <a:p>
            <a:r>
              <a:rPr lang="en-US" sz="1600" dirty="0" smtClean="0"/>
              <a:t>• Unemployment (%)</a:t>
            </a:r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r>
              <a:rPr lang="en-US" sz="1600" u="sng" dirty="0" smtClean="0"/>
              <a:t>Method used:</a:t>
            </a:r>
            <a:endParaRPr lang="en-US" sz="1600" dirty="0" smtClean="0"/>
          </a:p>
          <a:p>
            <a:r>
              <a:rPr lang="en-US" sz="1600" dirty="0" smtClean="0"/>
              <a:t>• Correlation Analysis</a:t>
            </a:r>
          </a:p>
          <a:p>
            <a:r>
              <a:rPr lang="en-US" sz="1600" dirty="0" smtClean="0"/>
              <a:t>• Ordinary Least Squares (OLS) Regression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38570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5876499" cy="586854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chemeClr val="accent4">
                    <a:lumMod val="75000"/>
                  </a:schemeClr>
                </a:solidFill>
              </a:rPr>
              <a:t>Exploring the Data</a:t>
            </a:r>
            <a:endParaRPr lang="en-US" sz="2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52" y="924909"/>
            <a:ext cx="6059606" cy="5080106"/>
          </a:xfrm>
        </p:spPr>
      </p:pic>
      <p:sp>
        <p:nvSpPr>
          <p:cNvPr id="5" name="Rectangle 4"/>
          <p:cNvSpPr/>
          <p:nvPr/>
        </p:nvSpPr>
        <p:spPr>
          <a:xfrm>
            <a:off x="6086902" y="1347990"/>
            <a:ext cx="597772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u="sng" dirty="0" smtClean="0"/>
              <a:t>Correlation measures the strength and direction</a:t>
            </a:r>
          </a:p>
          <a:p>
            <a:r>
              <a:rPr lang="en-US" sz="1600" b="1" u="sng" dirty="0" smtClean="0"/>
              <a:t>of the relationship between variables.</a:t>
            </a:r>
          </a:p>
          <a:p>
            <a:endParaRPr lang="en-US" sz="1600" b="1" u="sng" dirty="0" smtClean="0"/>
          </a:p>
          <a:p>
            <a:r>
              <a:rPr lang="en-US" sz="1600" b="1" u="sng" dirty="0" smtClean="0"/>
              <a:t>Key observations</a:t>
            </a:r>
            <a:r>
              <a:rPr lang="en-US" sz="1600" dirty="0" smtClean="0"/>
              <a:t>:</a:t>
            </a:r>
          </a:p>
          <a:p>
            <a:endParaRPr lang="en-US" sz="1600" dirty="0" smtClean="0"/>
          </a:p>
          <a:p>
            <a:r>
              <a:rPr lang="en-US" sz="1600" dirty="0" smtClean="0"/>
              <a:t>• Investment showed a positive relationship with GDP Growth.</a:t>
            </a:r>
          </a:p>
          <a:p>
            <a:endParaRPr lang="en-US" sz="1600" dirty="0" smtClean="0"/>
          </a:p>
          <a:p>
            <a:r>
              <a:rPr lang="en-US" sz="1600" dirty="0" smtClean="0"/>
              <a:t>• Inflation showed a negative relationship with GDP Growth.</a:t>
            </a:r>
          </a:p>
          <a:p>
            <a:endParaRPr lang="en-US" sz="1600" dirty="0" smtClean="0"/>
          </a:p>
          <a:p>
            <a:r>
              <a:rPr lang="en-US" sz="1600" dirty="0" smtClean="0"/>
              <a:t>• Government Expenditure showed a weak relationship with GDP Growth.</a:t>
            </a:r>
          </a:p>
          <a:p>
            <a:endParaRPr lang="en-US" sz="1600" dirty="0" smtClean="0"/>
          </a:p>
          <a:p>
            <a:r>
              <a:rPr lang="en-US" sz="1600" dirty="0" smtClean="0"/>
              <a:t>• Unemployment showed a weak relationship with GDP Growth.</a:t>
            </a:r>
          </a:p>
          <a:p>
            <a:endParaRPr lang="en-US" sz="1600" dirty="0" smtClean="0"/>
          </a:p>
          <a:p>
            <a:r>
              <a:rPr lang="en-US" sz="1600" dirty="0" smtClean="0"/>
              <a:t>Correlation does not imply causation.</a:t>
            </a:r>
            <a:br>
              <a:rPr lang="en-US" sz="1600" dirty="0" smtClean="0"/>
            </a:br>
            <a:r>
              <a:rPr lang="en-US" sz="1600" dirty="0" smtClean="0"/>
              <a:t>These relationships were further examined using OLS regression.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48091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423081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chemeClr val="accent4">
                    <a:lumMod val="75000"/>
                  </a:schemeClr>
                </a:solidFill>
              </a:rPr>
              <a:t>Regression Analysis</a:t>
            </a:r>
            <a:endParaRPr lang="en-US" sz="2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94" y="741708"/>
            <a:ext cx="8012639" cy="5686387"/>
          </a:xfrm>
        </p:spPr>
      </p:pic>
      <p:sp>
        <p:nvSpPr>
          <p:cNvPr id="5" name="Rectangle 4"/>
          <p:cNvSpPr/>
          <p:nvPr/>
        </p:nvSpPr>
        <p:spPr>
          <a:xfrm>
            <a:off x="8639032" y="741709"/>
            <a:ext cx="355296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u="sng" dirty="0" smtClean="0"/>
              <a:t>Final Model:</a:t>
            </a:r>
          </a:p>
          <a:p>
            <a:endParaRPr lang="en-US" sz="1600" dirty="0" smtClean="0"/>
          </a:p>
          <a:p>
            <a:r>
              <a:rPr lang="en-US" sz="1600" dirty="0" smtClean="0"/>
              <a:t>GDP Growth = f(Investment, Inflation)</a:t>
            </a:r>
          </a:p>
          <a:p>
            <a:endParaRPr lang="en-US" sz="1600" dirty="0" smtClean="0"/>
          </a:p>
          <a:p>
            <a:r>
              <a:rPr lang="en-US" sz="1600" u="sng" dirty="0" smtClean="0"/>
              <a:t>Model Performance:</a:t>
            </a:r>
          </a:p>
          <a:p>
            <a:endParaRPr lang="en-US" sz="1600" dirty="0" smtClean="0"/>
          </a:p>
          <a:p>
            <a:r>
              <a:rPr lang="en-US" sz="1600" dirty="0" smtClean="0"/>
              <a:t>• R² = 0.319</a:t>
            </a:r>
          </a:p>
          <a:p>
            <a:r>
              <a:rPr lang="en-US" sz="1600" dirty="0" smtClean="0"/>
              <a:t>• Statistically significant overall model</a:t>
            </a:r>
          </a:p>
          <a:p>
            <a:r>
              <a:rPr lang="en-US" sz="1600" dirty="0" smtClean="0"/>
              <a:t>• No serious </a:t>
            </a:r>
            <a:r>
              <a:rPr lang="en-US" sz="1600" dirty="0" err="1" smtClean="0"/>
              <a:t>multicollinearity</a:t>
            </a:r>
            <a:r>
              <a:rPr lang="en-US" sz="1600" dirty="0" smtClean="0"/>
              <a:t> issues detected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89489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4375245" cy="423080"/>
          </a:xfrm>
        </p:spPr>
        <p:txBody>
          <a:bodyPr>
            <a:noAutofit/>
          </a:bodyPr>
          <a:lstStyle/>
          <a:p>
            <a:r>
              <a:rPr lang="en-US" sz="2400" b="1" u="sng" dirty="0" smtClean="0">
                <a:solidFill>
                  <a:schemeClr val="accent4">
                    <a:lumMod val="75000"/>
                  </a:schemeClr>
                </a:solidFill>
              </a:rPr>
              <a:t>Key Findings</a:t>
            </a:r>
            <a:endParaRPr lang="en-US" sz="2400" b="1" u="sng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9212"/>
            <a:ext cx="4020403" cy="35347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 smtClean="0"/>
              <a:t> </a:t>
            </a:r>
            <a:r>
              <a:rPr lang="en-US" sz="1600" b="1" u="sng" dirty="0" smtClean="0"/>
              <a:t>Investment</a:t>
            </a:r>
            <a:endParaRPr lang="en-US" sz="1600" b="1" u="sng" dirty="0"/>
          </a:p>
          <a:p>
            <a:r>
              <a:rPr lang="en-US" sz="1600" dirty="0" smtClean="0"/>
              <a:t>Coefficient: +0.310</a:t>
            </a:r>
          </a:p>
          <a:p>
            <a:r>
              <a:rPr lang="en-US" sz="1600" dirty="0" smtClean="0"/>
              <a:t>Investment was positively associated with GDP Growth.</a:t>
            </a:r>
          </a:p>
          <a:p>
            <a:r>
              <a:rPr lang="en-US" sz="1600" dirty="0" smtClean="0"/>
              <a:t>A 1 percentage-point increase in Investment (% of GDP) was associated with approximately 0.31 percentage-point higher GDP Growth.</a:t>
            </a:r>
            <a:endParaRPr lang="en-US" sz="1600" dirty="0"/>
          </a:p>
        </p:txBody>
      </p:sp>
      <p:sp>
        <p:nvSpPr>
          <p:cNvPr id="5" name="Rectangle 4"/>
          <p:cNvSpPr/>
          <p:nvPr/>
        </p:nvSpPr>
        <p:spPr>
          <a:xfrm>
            <a:off x="5809397" y="689212"/>
            <a:ext cx="424900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 </a:t>
            </a:r>
            <a:r>
              <a:rPr lang="en-US" sz="1600" b="1" u="sng" dirty="0" smtClean="0"/>
              <a:t>Inflation</a:t>
            </a:r>
          </a:p>
          <a:p>
            <a:endParaRPr lang="en-US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Coefficient: -0.109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Inflation was negatively associated with GDP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A 1 percentage-point increase in Inflation was associated with approximately 0.11 percentage-point</a:t>
            </a:r>
            <a:r>
              <a:rPr lang="en-US" sz="1600" dirty="0"/>
              <a:t> </a:t>
            </a:r>
            <a:r>
              <a:rPr lang="en-US" sz="1600" dirty="0" smtClean="0"/>
              <a:t>lower GDP Growth.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4094329" y="4612943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u="sng" dirty="0" smtClean="0"/>
              <a:t>Statistically Significant Variables</a:t>
            </a:r>
            <a:endParaRPr lang="en-US" sz="1600" b="1" dirty="0" smtClean="0"/>
          </a:p>
          <a:p>
            <a:endParaRPr lang="en-US" sz="1600" dirty="0" smtClean="0"/>
          </a:p>
          <a:p>
            <a:r>
              <a:rPr lang="en-US" sz="1600" dirty="0" smtClean="0"/>
              <a:t>✓ Investment</a:t>
            </a:r>
          </a:p>
          <a:p>
            <a:endParaRPr lang="en-US" sz="1600" dirty="0" smtClean="0"/>
          </a:p>
          <a:p>
            <a:r>
              <a:rPr lang="en-US" sz="1600" dirty="0" smtClean="0"/>
              <a:t>✓ Inflation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85796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"/>
            <a:ext cx="10515600" cy="504966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chemeClr val="accent4">
                    <a:lumMod val="75000"/>
                  </a:schemeClr>
                </a:solidFill>
              </a:rPr>
              <a:t>What Did Not Show Statistical Significance?</a:t>
            </a:r>
            <a:endParaRPr lang="en-US" sz="2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73458"/>
            <a:ext cx="7787185" cy="24702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u="sng" dirty="0" smtClean="0"/>
              <a:t>Government Expenditure</a:t>
            </a:r>
          </a:p>
          <a:p>
            <a:endParaRPr lang="en-US" sz="1600" dirty="0" smtClean="0"/>
          </a:p>
          <a:p>
            <a:r>
              <a:rPr lang="en-US" sz="1600" dirty="0" smtClean="0"/>
              <a:t>• Positive relationship</a:t>
            </a:r>
          </a:p>
          <a:p>
            <a:r>
              <a:rPr lang="en-US" sz="1600" dirty="0" smtClean="0"/>
              <a:t>• Not statistically significant</a:t>
            </a:r>
          </a:p>
          <a:p>
            <a:endParaRPr lang="en-US" sz="1600" dirty="0" smtClean="0"/>
          </a:p>
          <a:p>
            <a:pPr marL="0" indent="0">
              <a:buNone/>
            </a:pPr>
            <a:r>
              <a:rPr lang="en-US" sz="1600" b="1" u="sng" dirty="0" smtClean="0"/>
              <a:t>Unemployment</a:t>
            </a:r>
          </a:p>
          <a:p>
            <a:endParaRPr lang="en-US" sz="1600" dirty="0" smtClean="0"/>
          </a:p>
          <a:p>
            <a:r>
              <a:rPr lang="en-US" sz="1600" dirty="0" smtClean="0"/>
              <a:t>• Weak relationship</a:t>
            </a:r>
          </a:p>
          <a:p>
            <a:r>
              <a:rPr lang="en-US" sz="1600" dirty="0" smtClean="0"/>
              <a:t>• Not statistically significant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838199" y="4550475"/>
            <a:ext cx="778718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Not every variable that seems important</a:t>
            </a:r>
          </a:p>
          <a:p>
            <a:r>
              <a:rPr lang="en-US" sz="1600" dirty="0" smtClean="0"/>
              <a:t>economically will be statistically significant</a:t>
            </a:r>
          </a:p>
          <a:p>
            <a:r>
              <a:rPr lang="en-US" sz="1600" dirty="0" smtClean="0"/>
              <a:t>in a regression model.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43267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341194"/>
          </a:xfrm>
        </p:spPr>
        <p:txBody>
          <a:bodyPr>
            <a:normAutofit fontScale="90000"/>
          </a:bodyPr>
          <a:lstStyle/>
          <a:p>
            <a:r>
              <a:rPr lang="en-US" sz="2400" b="1" dirty="0" smtClean="0">
                <a:solidFill>
                  <a:schemeClr val="accent4">
                    <a:lumMod val="75000"/>
                  </a:schemeClr>
                </a:solidFill>
              </a:rPr>
              <a:t>Skills Applied</a:t>
            </a:r>
            <a:endParaRPr lang="en-US" sz="2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36728"/>
            <a:ext cx="10515600" cy="627797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400" dirty="0" smtClean="0"/>
              <a:t>Data Collection</a:t>
            </a:r>
          </a:p>
          <a:p>
            <a:pPr marL="0" indent="0">
              <a:buNone/>
            </a:pPr>
            <a:r>
              <a:rPr lang="en-US" sz="1400" dirty="0" smtClean="0"/>
              <a:t>      ✓ World Bank Data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dirty="0" smtClean="0"/>
              <a:t>Data Cleaning</a:t>
            </a:r>
          </a:p>
          <a:p>
            <a:pPr marL="0" indent="0">
              <a:buNone/>
            </a:pPr>
            <a:r>
              <a:rPr lang="en-US" sz="1400" dirty="0" smtClean="0"/>
              <a:t>      ✓ Pandas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dirty="0" smtClean="0"/>
              <a:t>Data Transformation</a:t>
            </a:r>
          </a:p>
          <a:p>
            <a:pPr marL="0" indent="0">
              <a:buNone/>
            </a:pPr>
            <a:r>
              <a:rPr lang="en-US" sz="1400" dirty="0" smtClean="0"/>
              <a:t>     ✓ Reshaping</a:t>
            </a:r>
          </a:p>
          <a:p>
            <a:pPr marL="0" indent="0">
              <a:buNone/>
            </a:pPr>
            <a:r>
              <a:rPr lang="en-US" sz="1400" dirty="0" smtClean="0"/>
              <a:t>     ✓ Merging datasets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dirty="0" smtClean="0"/>
              <a:t>Exploratory Analysis</a:t>
            </a:r>
          </a:p>
          <a:p>
            <a:pPr marL="0" indent="0">
              <a:buNone/>
            </a:pPr>
            <a:r>
              <a:rPr lang="en-US" sz="1400" dirty="0" smtClean="0"/>
              <a:t>     ✓ Correlation Analysis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dirty="0" smtClean="0"/>
              <a:t>Statistical Modeling</a:t>
            </a:r>
          </a:p>
          <a:p>
            <a:pPr marL="0" indent="0">
              <a:buNone/>
            </a:pPr>
            <a:r>
              <a:rPr lang="en-US" sz="1400" dirty="0" smtClean="0"/>
              <a:t>     ✓ OLS Regression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dirty="0" smtClean="0"/>
              <a:t>Statistical Testing</a:t>
            </a:r>
          </a:p>
          <a:p>
            <a:pPr marL="0" indent="0">
              <a:buNone/>
            </a:pPr>
            <a:r>
              <a:rPr lang="en-US" sz="1400" dirty="0" smtClean="0"/>
              <a:t>     ✓ Hypothesis Testing</a:t>
            </a:r>
          </a:p>
          <a:p>
            <a:pPr marL="0" indent="0">
              <a:buNone/>
            </a:pPr>
            <a:r>
              <a:rPr lang="en-US" sz="1400" dirty="0"/>
              <a:t> </a:t>
            </a:r>
            <a:r>
              <a:rPr lang="en-US" sz="1400" dirty="0" smtClean="0"/>
              <a:t>    ✓ P-values</a:t>
            </a:r>
          </a:p>
          <a:p>
            <a:pPr marL="0" indent="0">
              <a:buNone/>
            </a:pPr>
            <a:r>
              <a:rPr lang="en-US" sz="1400" dirty="0" smtClean="0"/>
              <a:t>     ✓ Confidence Intervals</a:t>
            </a:r>
          </a:p>
          <a:p>
            <a:pPr marL="0" indent="0">
              <a:buNone/>
            </a:pPr>
            <a:r>
              <a:rPr lang="en-US" sz="1400" dirty="0"/>
              <a:t> </a:t>
            </a:r>
            <a:r>
              <a:rPr lang="en-US" sz="1400" dirty="0" smtClean="0"/>
              <a:t>    ✓ VIF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400" dirty="0" smtClean="0"/>
              <a:t>Visualization</a:t>
            </a:r>
          </a:p>
          <a:p>
            <a:pPr marL="0" indent="0">
              <a:buNone/>
            </a:pPr>
            <a:r>
              <a:rPr lang="en-US" sz="1400" dirty="0" smtClean="0"/>
              <a:t>     ✓ </a:t>
            </a:r>
            <a:r>
              <a:rPr lang="en-US" sz="1400" dirty="0" err="1" smtClean="0"/>
              <a:t>Heatmaps</a:t>
            </a:r>
            <a:endParaRPr lang="en-US" sz="1400" dirty="0" smtClean="0"/>
          </a:p>
          <a:p>
            <a:pPr marL="0" indent="0">
              <a:buNone/>
            </a:pPr>
            <a:r>
              <a:rPr lang="en-US" sz="1400" dirty="0"/>
              <a:t> </a:t>
            </a:r>
            <a:r>
              <a:rPr lang="en-US" sz="1400" dirty="0" smtClean="0"/>
              <a:t>    ✓ Scatterplots</a:t>
            </a:r>
          </a:p>
          <a:p>
            <a:pPr marL="0" indent="0">
              <a:buNone/>
            </a:pPr>
            <a:r>
              <a:rPr lang="en-US" sz="1400" dirty="0" smtClean="0"/>
              <a:t>     ✓ Time Series Charts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27276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68739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chemeClr val="accent4">
                    <a:lumMod val="75000"/>
                  </a:schemeClr>
                </a:solidFill>
              </a:rPr>
              <a:t>What Would You Add to the Model?</a:t>
            </a:r>
            <a:endParaRPr lang="en-US" sz="2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68740"/>
            <a:ext cx="10515600" cy="468118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600" dirty="0" smtClean="0"/>
              <a:t>The model explained about 32% of the variation in Kenya's GDP Growth.</a:t>
            </a:r>
          </a:p>
          <a:p>
            <a:endParaRPr lang="en-US" sz="1600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 smtClean="0"/>
              <a:t>This suggests other factors may also play important roles.</a:t>
            </a:r>
          </a:p>
          <a:p>
            <a:endParaRPr lang="en-US" sz="1600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 smtClean="0"/>
              <a:t>If you were extending this analysis, which variables would you add?</a:t>
            </a:r>
          </a:p>
          <a:p>
            <a:endParaRPr lang="en-US" sz="1600" dirty="0" smtClean="0"/>
          </a:p>
          <a:p>
            <a:pPr algn="just"/>
            <a:r>
              <a:rPr lang="en-US" sz="1600" dirty="0" smtClean="0"/>
              <a:t>• Exports</a:t>
            </a:r>
          </a:p>
          <a:p>
            <a:pPr algn="just"/>
            <a:r>
              <a:rPr lang="en-US" sz="1600" dirty="0" smtClean="0"/>
              <a:t>• Foreign Direct Investment (FDI)</a:t>
            </a:r>
          </a:p>
          <a:p>
            <a:pPr algn="just"/>
            <a:r>
              <a:rPr lang="en-US" sz="1600" dirty="0" smtClean="0"/>
              <a:t>• Exchange Rates</a:t>
            </a:r>
          </a:p>
          <a:p>
            <a:pPr algn="just"/>
            <a:r>
              <a:rPr lang="en-US" sz="1600" dirty="0" smtClean="0"/>
              <a:t>• Interest Rates</a:t>
            </a:r>
          </a:p>
          <a:p>
            <a:pPr algn="just"/>
            <a:r>
              <a:rPr lang="en-US" sz="1600" dirty="0" smtClean="0"/>
              <a:t>• Population Growth</a:t>
            </a:r>
          </a:p>
          <a:p>
            <a:pPr algn="just"/>
            <a:r>
              <a:rPr lang="en-US" sz="1600" dirty="0" smtClean="0"/>
              <a:t>• Something else?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3837139" y="6018660"/>
            <a:ext cx="276171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smtClean="0">
                <a:solidFill>
                  <a:schemeClr val="accent4">
                    <a:lumMod val="75000"/>
                  </a:schemeClr>
                </a:solidFill>
              </a:rPr>
              <a:t>I'd love to hear your thoughts.</a:t>
            </a:r>
            <a:endParaRPr lang="en-US" sz="1600" b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684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445</Words>
  <Application>Microsoft Office PowerPoint</Application>
  <PresentationFormat>Widescreen</PresentationFormat>
  <Paragraphs>104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What Drives Kenya's GDP Growth?</vt:lpstr>
      <vt:lpstr>The Question</vt:lpstr>
      <vt:lpstr>Exploring the Data</vt:lpstr>
      <vt:lpstr>Regression Analysis</vt:lpstr>
      <vt:lpstr>Key Findings</vt:lpstr>
      <vt:lpstr>What Did Not Show Statistical Significance?</vt:lpstr>
      <vt:lpstr>Skills Applied</vt:lpstr>
      <vt:lpstr>What Would You Add to the Model?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Drives Kenya's GDP Growth?</dc:title>
  <dc:creator>ADMIN</dc:creator>
  <cp:lastModifiedBy>ADMIN</cp:lastModifiedBy>
  <cp:revision>26</cp:revision>
  <dcterms:created xsi:type="dcterms:W3CDTF">2026-06-06T19:30:42Z</dcterms:created>
  <dcterms:modified xsi:type="dcterms:W3CDTF">2026-06-06T20:34:33Z</dcterms:modified>
</cp:coreProperties>
</file>